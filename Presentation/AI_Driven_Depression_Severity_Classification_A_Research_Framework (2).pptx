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3" d="100"/>
          <a:sy n="113" d="100"/>
        </p:scale>
        <p:origin x="48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i.org/10.1186/s13104-021-05673-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3" name="Image 0" descr="an EEG headset"/>
          <p:cNvPicPr>
            <a:picLocks noChangeAspect="1"/>
          </p:cNvPicPr>
          <p:nvPr/>
        </p:nvPicPr>
        <p:blipFill>
          <a:blip r:embed="rId3"/>
          <a:srcRect t="6627" b="66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647825" y="2066925"/>
            <a:ext cx="8896350" cy="2724150"/>
          </a:xfrm>
          <a:prstGeom prst="rect">
            <a:avLst/>
          </a:prstGeom>
          <a:solidFill>
            <a:srgbClr val="FFFFFF"/>
          </a:solidFill>
          <a:ln>
            <a:miter lim="800000"/>
          </a:ln>
        </p:spPr>
      </p:sp>
      <p:sp>
        <p:nvSpPr>
          <p:cNvPr id="5" name="Text 2"/>
          <p:cNvSpPr/>
          <p:nvPr/>
        </p:nvSpPr>
        <p:spPr>
          <a:xfrm>
            <a:off x="1695450" y="2339132"/>
            <a:ext cx="8801100" cy="17040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6710"/>
              </a:lnSpc>
            </a:pPr>
            <a:r>
              <a:rPr lang="en-US" sz="6750" kern="0" spc="-40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AI-Driven Depression Severity Classification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885950" y="4172248"/>
            <a:ext cx="8420100" cy="30837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430"/>
              </a:lnSpc>
              <a:spcBef>
                <a:spcPts val="995"/>
              </a:spcBef>
            </a:pPr>
            <a:r>
              <a:rPr lang="en-US" sz="1800" kern="0" spc="-72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 Machine-Learning Framework for Eyes-Closed EEG Analysis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85750" y="6086921"/>
            <a:ext cx="3445639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1705"/>
              </a:lnSpc>
            </a:pPr>
            <a:r>
              <a:rPr lang="en-US" sz="1500" kern="0" spc="-45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Shereen Shaban Mahmoud Hamed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85750" y="6400949"/>
            <a:ext cx="3257550" cy="2183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1720"/>
              </a:lnSpc>
              <a:spcBef>
                <a:spcPts val="755"/>
              </a:spcBef>
            </a:pPr>
            <a:r>
              <a:rPr lang="en-US" sz="1275" kern="0" spc="-51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AYAIR 2026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3" name="Image 0" descr="A silhouette of a human head with a faint, abstract brain shape inside."/>
          <p:cNvPicPr>
            <a:picLocks noChangeAspect="1"/>
          </p:cNvPicPr>
          <p:nvPr/>
        </p:nvPicPr>
        <p:blipFill>
          <a:blip r:embed="rId3"/>
          <a:srcRect l="14415" r="14415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6250" y="1538734"/>
            <a:ext cx="5295900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1705"/>
              </a:lnSpc>
            </a:pPr>
            <a:r>
              <a:rPr lang="en-US" sz="1500" kern="0" spc="-45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Research Overview</a:t>
            </a:r>
            <a:endParaRPr lang="en-US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76250" y="2032099"/>
            <a:ext cx="5352351" cy="9465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3725"/>
              </a:lnSpc>
              <a:spcBef>
                <a:spcPts val="2140"/>
              </a:spcBef>
            </a:pPr>
            <a: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The Challenge:</a:t>
            </a:r>
            <a:b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</a:br>
            <a: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Adolescent Depression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76250" y="3186113"/>
            <a:ext cx="5462796" cy="213493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241300" indent="-241300" algn="l" fontAlgn="ctr">
              <a:lnSpc>
                <a:spcPts val="1875"/>
              </a:lnSpc>
              <a:spcBef>
                <a:spcPts val="1600"/>
              </a:spcBef>
              <a:buClr>
                <a:srgbClr val="48DC92"/>
              </a:buClr>
              <a:buSzPct val="120000"/>
              <a:buChar char="•"/>
            </a:pP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Black" pitchFamily="34" charset="-120"/>
              </a:rPr>
              <a:t>Global Urgency:</a:t>
            </a: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 Mental health in adolescence is a</a:t>
            </a:r>
            <a:b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</a:b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critical priority.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41300" indent="-241300" algn="l" fontAlgn="ctr">
              <a:lnSpc>
                <a:spcPts val="1875"/>
              </a:lnSpc>
              <a:spcBef>
                <a:spcPts val="1810"/>
              </a:spcBef>
              <a:buClr>
                <a:srgbClr val="48DC92"/>
              </a:buClr>
              <a:buSzPct val="120000"/>
              <a:buChar char="•"/>
            </a:pP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Black" pitchFamily="34" charset="-120"/>
              </a:rPr>
              <a:t>Diagnostic Limitations:</a:t>
            </a: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 Address the need for</a:t>
            </a:r>
            <a:b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</a:b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objective innovation.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41300" indent="-241300" algn="l" fontAlgn="ctr">
              <a:lnSpc>
                <a:spcPts val="1875"/>
              </a:lnSpc>
              <a:spcBef>
                <a:spcPts val="1810"/>
              </a:spcBef>
              <a:buClr>
                <a:srgbClr val="48DC92"/>
              </a:buClr>
              <a:buSzPct val="120000"/>
              <a:buChar char="•"/>
            </a:pP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Black" pitchFamily="34" charset="-120"/>
              </a:rPr>
              <a:t>Research Motivation:</a:t>
            </a: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 Investigate whether EEG-</a:t>
            </a:r>
            <a:b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</a:b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derived features can support depression-severity</a:t>
            </a:r>
            <a:b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</a:b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classification.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3725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Signal: Why EEG?</a:t>
            </a:r>
          </a:p>
        </p:txBody>
      </p:sp>
      <p:sp>
        <p:nvSpPr>
          <p:cNvPr id="3" name="Text 1"/>
          <p:cNvSpPr/>
          <p:nvPr/>
        </p:nvSpPr>
        <p:spPr>
          <a:xfrm>
            <a:off x="952500" y="3173016"/>
            <a:ext cx="5238750" cy="162966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 fontAlgn="ctr">
              <a:lnSpc>
                <a:spcPts val="2105"/>
              </a:lnSpc>
              <a:buClr>
                <a:srgbClr val="48DC92"/>
              </a:buClr>
              <a:buSzPct val="120000"/>
              <a:buChar char="•"/>
            </a:pPr>
            <a:r>
              <a:rPr lang="en-US" sz="1850" kern="0" spc="-56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Utility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54000" lvl="1" indent="0" algn="l" fontAlgn="ctr">
              <a:lnSpc>
                <a:spcPts val="1920"/>
              </a:lnSpc>
              <a:spcBef>
                <a:spcPts val="420"/>
              </a:spcBef>
              <a:buNone/>
            </a:pPr>
            <a:r>
              <a:rPr lang="en-US" sz="1425" kern="0" spc="-57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EEG is a non-invasive physiological measurement that may</a:t>
            </a:r>
            <a:br>
              <a:rPr lang="en-US" sz="1425" kern="0" spc="-57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</a:br>
            <a:r>
              <a:rPr lang="en-US" sz="1425" kern="0" spc="-57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provide useful research features.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41300" indent="-241300" algn="l" fontAlgn="ctr">
              <a:lnSpc>
                <a:spcPts val="2105"/>
              </a:lnSpc>
              <a:spcBef>
                <a:spcPts val="1965"/>
              </a:spcBef>
              <a:buClr>
                <a:srgbClr val="48DC92"/>
              </a:buClr>
              <a:buSzPct val="120000"/>
              <a:buChar char="•"/>
            </a:pPr>
            <a:r>
              <a:rPr lang="en-US" sz="1850" kern="0" spc="-56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Resting-State Dynamics</a:t>
            </a:r>
          </a:p>
          <a:p>
            <a:pPr marL="254000" lvl="1" indent="0" algn="l" fontAlgn="ctr">
              <a:lnSpc>
                <a:spcPts val="1920"/>
              </a:lnSpc>
              <a:spcBef>
                <a:spcPts val="420"/>
              </a:spcBef>
              <a:buNone/>
            </a:pPr>
            <a:r>
              <a:rPr lang="en-US" sz="1425" kern="0" spc="-57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Captures intrinsic neural oscillations.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86500" y="3173016"/>
            <a:ext cx="5238750" cy="8094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 fontAlgn="ctr">
              <a:lnSpc>
                <a:spcPts val="2105"/>
              </a:lnSpc>
              <a:buClr>
                <a:srgbClr val="48DC92"/>
              </a:buClr>
              <a:buSzPct val="120000"/>
              <a:buChar char="•"/>
            </a:pPr>
            <a:r>
              <a:rPr lang="en-US" sz="1850" kern="0" spc="-56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Protocol Standardization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54000" lvl="1" indent="0" algn="l" fontAlgn="ctr">
              <a:lnSpc>
                <a:spcPts val="1920"/>
              </a:lnSpc>
              <a:spcBef>
                <a:spcPts val="420"/>
              </a:spcBef>
              <a:buNone/>
            </a:pPr>
            <a:r>
              <a:rPr lang="en-US" sz="1425" kern="0" spc="-57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The eyes-closed protocol provides a standardized resting</a:t>
            </a:r>
            <a:br>
              <a:rPr lang="en-US" sz="1425" kern="0" spc="-57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</a:br>
            <a:r>
              <a:rPr lang="en-US" sz="1425" kern="0" spc="-57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condition and may reduce task-related variability.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3" name="Image 0" descr="a digital interface displaying a clinical decision support system screen"/>
          <p:cNvPicPr>
            <a:picLocks noChangeAspect="1"/>
          </p:cNvPicPr>
          <p:nvPr/>
        </p:nvPicPr>
        <p:blipFill>
          <a:blip r:embed="rId3"/>
          <a:srcRect l="24994" r="24994"/>
          <a:stretch>
            <a:fillRect/>
          </a:stretch>
        </p:blipFill>
        <p:spPr>
          <a:xfrm>
            <a:off x="6362878" y="0"/>
            <a:ext cx="5829121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6250" y="852934"/>
            <a:ext cx="5410200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1705"/>
              </a:lnSpc>
            </a:pPr>
            <a:r>
              <a:rPr lang="en-US" sz="1500" kern="0" spc="-45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Project Overview</a:t>
            </a:r>
            <a:endParaRPr lang="en-US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" y="1346299"/>
            <a:ext cx="7332132" cy="141982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3725"/>
              </a:lnSpc>
              <a:spcBef>
                <a:spcPts val="2140"/>
              </a:spcBef>
            </a:pPr>
            <a: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Research Goal:</a:t>
            </a:r>
            <a:b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</a:br>
            <a: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Decision-Support Framework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76250" y="2950815"/>
            <a:ext cx="5410200" cy="25955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2045"/>
              </a:lnSpc>
              <a:spcBef>
                <a:spcPts val="1425"/>
              </a:spcBef>
            </a:pPr>
            <a:r>
              <a:rPr lang="en-US" sz="1800" kern="0" spc="-54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Primary Objective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76250" y="3380184"/>
            <a:ext cx="5791200" cy="56524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2225"/>
              </a:lnSpc>
              <a:spcBef>
                <a:spcPts val="1310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Develop a research framework for three-class depression-</a:t>
            </a:r>
            <a:b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</a:b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severity classification.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76250" y="4134743"/>
            <a:ext cx="5410200" cy="25955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2045"/>
              </a:lnSpc>
              <a:spcBef>
                <a:spcPts val="1460"/>
              </a:spcBef>
            </a:pPr>
            <a:r>
              <a:rPr lang="en-US" sz="1800" kern="0" spc="-54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Clinical Philosophy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76250" y="4564112"/>
            <a:ext cx="5731401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2225"/>
              </a:lnSpc>
              <a:spcBef>
                <a:spcPts val="1310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Designed as a future-facing decision-support application.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76250" y="5036046"/>
            <a:ext cx="5410200" cy="25955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2045"/>
              </a:lnSpc>
              <a:spcBef>
                <a:spcPts val="1460"/>
              </a:spcBef>
            </a:pPr>
            <a:r>
              <a:rPr lang="en-US" sz="1800" kern="0" spc="-54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Implementation Caveat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76250" y="5465415"/>
            <a:ext cx="5677079" cy="56524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2225"/>
              </a:lnSpc>
              <a:spcBef>
                <a:spcPts val="1310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Deployment is strictly subject to rigorous external clinical</a:t>
            </a:r>
            <a:b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</a:b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validation.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3725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Data Overview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33375" y="1036141"/>
            <a:ext cx="115252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225"/>
              </a:lnSpc>
              <a:spcBef>
                <a:spcPts val="1135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Dataset derived from the Rachamanee &amp; Wongupparaj (2021) study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76250" y="1733550"/>
            <a:ext cx="3651250" cy="4648200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762000" y="3422898"/>
            <a:ext cx="1933575" cy="116234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9150"/>
              </a:lnSpc>
            </a:pPr>
            <a:r>
              <a:rPr lang="en-US" sz="10315" kern="0" spc="-516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85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" y="1886396"/>
            <a:ext cx="3555950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1705"/>
              </a:lnSpc>
            </a:pPr>
            <a:r>
              <a:rPr lang="en-US" sz="1500" kern="0" spc="-4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Total Participants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70375" y="1733550"/>
            <a:ext cx="3651250" cy="4648200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</p:sp>
      <p:sp>
        <p:nvSpPr>
          <p:cNvPr id="8" name="Text 6"/>
          <p:cNvSpPr/>
          <p:nvPr/>
        </p:nvSpPr>
        <p:spPr>
          <a:xfrm>
            <a:off x="4556125" y="3422898"/>
            <a:ext cx="2894707" cy="116234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9150"/>
              </a:lnSpc>
            </a:pPr>
            <a:r>
              <a:rPr lang="en-US" sz="10315" kern="0" spc="-516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600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60875" y="6010721"/>
            <a:ext cx="2432447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1705"/>
              </a:lnSpc>
            </a:pPr>
            <a:r>
              <a:rPr lang="en-US" sz="1500" kern="0" spc="-4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features per participant</a:t>
            </a:r>
          </a:p>
        </p:txBody>
      </p:sp>
      <p:sp>
        <p:nvSpPr>
          <p:cNvPr id="10" name="Text 8"/>
          <p:cNvSpPr/>
          <p:nvPr/>
        </p:nvSpPr>
        <p:spPr>
          <a:xfrm>
            <a:off x="4460875" y="1886396"/>
            <a:ext cx="3555950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>
              <a:lnSpc>
                <a:spcPts val="1705"/>
              </a:lnSpc>
            </a:pPr>
            <a:r>
              <a:rPr lang="en-US" sz="1500" kern="0" spc="-4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Feature Density</a:t>
            </a:r>
          </a:p>
        </p:txBody>
      </p:sp>
      <p:sp>
        <p:nvSpPr>
          <p:cNvPr id="11" name="Shape 9"/>
          <p:cNvSpPr/>
          <p:nvPr/>
        </p:nvSpPr>
        <p:spPr>
          <a:xfrm>
            <a:off x="8064500" y="1733550"/>
            <a:ext cx="3651250" cy="4648200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</p:sp>
      <p:sp>
        <p:nvSpPr>
          <p:cNvPr id="12" name="Text 10"/>
          <p:cNvSpPr/>
          <p:nvPr/>
        </p:nvSpPr>
        <p:spPr>
          <a:xfrm>
            <a:off x="8107521" y="3821013"/>
            <a:ext cx="3565207" cy="47595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1875"/>
              </a:lnSpc>
            </a:pPr>
            <a:r>
              <a:rPr lang="en-US" sz="1500" kern="0" spc="-4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Includes processed EEG-derived</a:t>
            </a:r>
            <a:br>
              <a:rPr lang="en-US" sz="1500" kern="0" spc="-4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500" kern="0" spc="-4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spectral features</a:t>
            </a:r>
            <a:r>
              <a:rPr lang="en-US" sz="1650" kern="0" spc="-49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3725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Reproducible Pipeline Workflow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33375" y="1036141"/>
            <a:ext cx="115252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225"/>
              </a:lnSpc>
              <a:spcBef>
                <a:spcPts val="1135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A structured approach to EEG data processing and analysis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Image 0" descr="-a4069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456408"/>
            <a:ext cx="2400300" cy="11906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875" y="2975610"/>
            <a:ext cx="2019300" cy="24660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1945"/>
              </a:lnSpc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 Acquisition</a:t>
            </a:r>
          </a:p>
        </p:txBody>
      </p:sp>
      <p:sp>
        <p:nvSpPr>
          <p:cNvPr id="6" name="Text 3"/>
          <p:cNvSpPr/>
          <p:nvPr/>
        </p:nvSpPr>
        <p:spPr>
          <a:xfrm>
            <a:off x="762000" y="3779728"/>
            <a:ext cx="2019300" cy="5137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2025"/>
              </a:lnSpc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Integration of raw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EEG metadata.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438275" y="2218283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7CA78"/>
            </a:solidFill>
            <a:prstDash val="solid"/>
            <a:miter lim="800000"/>
          </a:ln>
        </p:spPr>
      </p:sp>
      <p:pic>
        <p:nvPicPr>
          <p:cNvPr id="8" name="Image 1" descr="-1b35a7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3150" y="2367111"/>
            <a:ext cx="209550" cy="180975"/>
          </a:xfrm>
          <a:prstGeom prst="rect">
            <a:avLst/>
          </a:prstGeom>
        </p:spPr>
      </p:pic>
      <p:pic>
        <p:nvPicPr>
          <p:cNvPr id="9" name="Image 2" descr="-6e0de55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6050" y="2456408"/>
            <a:ext cx="2400300" cy="11906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010882" y="2975610"/>
            <a:ext cx="1750635" cy="24660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1945"/>
              </a:lnSpc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Preprocessing</a:t>
            </a:r>
          </a:p>
        </p:txBody>
      </p:sp>
      <p:sp>
        <p:nvSpPr>
          <p:cNvPr id="11" name="Text 6"/>
          <p:cNvSpPr/>
          <p:nvPr/>
        </p:nvSpPr>
        <p:spPr>
          <a:xfrm>
            <a:off x="2971800" y="3779728"/>
            <a:ext cx="2019300" cy="128438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2025"/>
              </a:lnSpc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 quality checks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 participant-level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reshaping of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processed EEG-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derived features.</a:t>
            </a:r>
          </a:p>
        </p:txBody>
      </p:sp>
      <p:sp>
        <p:nvSpPr>
          <p:cNvPr id="12" name="Shape 7"/>
          <p:cNvSpPr/>
          <p:nvPr/>
        </p:nvSpPr>
        <p:spPr>
          <a:xfrm>
            <a:off x="3648075" y="2218283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29B66"/>
            </a:solidFill>
            <a:prstDash val="solid"/>
            <a:miter lim="800000"/>
          </a:ln>
        </p:spPr>
      </p:sp>
      <p:pic>
        <p:nvPicPr>
          <p:cNvPr id="13" name="Image 3" descr="-357b61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1789" y="2369903"/>
            <a:ext cx="238125" cy="171450"/>
          </a:xfrm>
          <a:prstGeom prst="rect">
            <a:avLst/>
          </a:prstGeom>
        </p:spPr>
      </p:pic>
      <p:pic>
        <p:nvPicPr>
          <p:cNvPr id="14" name="Image 4" descr="-b5a0c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5850" y="2456408"/>
            <a:ext cx="2400300" cy="11906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29225" y="2851785"/>
            <a:ext cx="1733550" cy="4932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1945"/>
              </a:lnSpc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Feature</a:t>
            </a:r>
            <a:b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Selection</a:t>
            </a:r>
          </a:p>
        </p:txBody>
      </p:sp>
      <p:sp>
        <p:nvSpPr>
          <p:cNvPr id="16" name="Text 9"/>
          <p:cNvSpPr/>
          <p:nvPr/>
        </p:nvSpPr>
        <p:spPr>
          <a:xfrm>
            <a:off x="5181600" y="3779728"/>
            <a:ext cx="2019300" cy="5137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>
              <a:lnSpc>
                <a:spcPts val="2025"/>
              </a:lnSpc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Statistical filtering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using ANOVA.</a:t>
            </a:r>
          </a:p>
        </p:txBody>
      </p:sp>
      <p:sp>
        <p:nvSpPr>
          <p:cNvPr id="17" name="Shape 10"/>
          <p:cNvSpPr/>
          <p:nvPr/>
        </p:nvSpPr>
        <p:spPr>
          <a:xfrm>
            <a:off x="5857875" y="2218283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97F54"/>
            </a:solidFill>
            <a:prstDash val="solid"/>
            <a:miter lim="800000"/>
          </a:ln>
        </p:spPr>
      </p:sp>
      <p:pic>
        <p:nvPicPr>
          <p:cNvPr id="18" name="Image 5" descr="-2347f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6007" y="2330837"/>
            <a:ext cx="247650" cy="257175"/>
          </a:xfrm>
          <a:prstGeom prst="rect">
            <a:avLst/>
          </a:prstGeom>
        </p:spPr>
      </p:pic>
      <p:pic>
        <p:nvPicPr>
          <p:cNvPr id="19" name="Image 6" descr="07282f6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05650" y="2456408"/>
            <a:ext cx="2400300" cy="119062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439025" y="2975610"/>
            <a:ext cx="1733550" cy="24660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1945"/>
              </a:lnSpc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Classification</a:t>
            </a:r>
          </a:p>
        </p:txBody>
      </p:sp>
      <p:sp>
        <p:nvSpPr>
          <p:cNvPr id="21" name="Text 12"/>
          <p:cNvSpPr/>
          <p:nvPr/>
        </p:nvSpPr>
        <p:spPr>
          <a:xfrm>
            <a:off x="7391400" y="3779728"/>
            <a:ext cx="2019300" cy="5137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>
              <a:lnSpc>
                <a:spcPts val="2025"/>
              </a:lnSpc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Multi-class machine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learning training.</a:t>
            </a:r>
          </a:p>
        </p:txBody>
      </p:sp>
      <p:sp>
        <p:nvSpPr>
          <p:cNvPr id="22" name="Shape 13"/>
          <p:cNvSpPr/>
          <p:nvPr/>
        </p:nvSpPr>
        <p:spPr>
          <a:xfrm>
            <a:off x="8067675" y="2218283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06442"/>
            </a:solidFill>
            <a:prstDash val="solid"/>
            <a:miter lim="800000"/>
          </a:ln>
        </p:spPr>
      </p:sp>
      <p:pic>
        <p:nvPicPr>
          <p:cNvPr id="23" name="Image 7" descr="-28cd131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9760" y="2350368"/>
            <a:ext cx="219075" cy="219075"/>
          </a:xfrm>
          <a:prstGeom prst="rect">
            <a:avLst/>
          </a:prstGeom>
        </p:spPr>
      </p:pic>
      <p:pic>
        <p:nvPicPr>
          <p:cNvPr id="24" name="Image 8" descr="2274972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15450" y="2456408"/>
            <a:ext cx="2400300" cy="1190625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9648825" y="2975610"/>
            <a:ext cx="1733550" cy="24660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1945"/>
              </a:lnSpc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Validation</a:t>
            </a:r>
          </a:p>
        </p:txBody>
      </p:sp>
      <p:sp>
        <p:nvSpPr>
          <p:cNvPr id="26" name="Text 15"/>
          <p:cNvSpPr/>
          <p:nvPr/>
        </p:nvSpPr>
        <p:spPr>
          <a:xfrm>
            <a:off x="9601200" y="3779728"/>
            <a:ext cx="2038171" cy="10275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>
              <a:lnSpc>
                <a:spcPts val="2025"/>
              </a:lnSpc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Performance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verification via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stratified participant-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level splits.</a:t>
            </a:r>
          </a:p>
        </p:txBody>
      </p:sp>
      <p:sp>
        <p:nvSpPr>
          <p:cNvPr id="27" name="Shape 16"/>
          <p:cNvSpPr/>
          <p:nvPr/>
        </p:nvSpPr>
        <p:spPr>
          <a:xfrm>
            <a:off x="10277475" y="2218283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7482F"/>
            </a:solidFill>
            <a:prstDash val="solid"/>
            <a:miter lim="800000"/>
          </a:ln>
        </p:spPr>
      </p:sp>
      <p:pic>
        <p:nvPicPr>
          <p:cNvPr id="28" name="Image 9" descr="-26c90fd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98398" y="2339206"/>
            <a:ext cx="238125" cy="238125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</p:sp>
      <p:sp>
        <p:nvSpPr>
          <p:cNvPr id="30" name="Text 18"/>
          <p:cNvSpPr/>
          <p:nvPr/>
        </p:nvSpPr>
        <p:spPr>
          <a:xfrm>
            <a:off x="947738" y="6378476"/>
            <a:ext cx="10296525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1875"/>
              </a:lnSpc>
            </a:pPr>
            <a:r>
              <a:rPr lang="en-US" sz="1650" kern="0" spc="-49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This workflow ensures systematic and reliable EEG data processing from acquisition to final validation.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3725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Design Integrity &amp; Data Leakage Prevention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76250" y="3362325"/>
            <a:ext cx="3619500" cy="1595438"/>
          </a:xfrm>
          <a:prstGeom prst="rect">
            <a:avLst/>
          </a:prstGeom>
          <a:solidFill>
            <a:srgbClr val="38D8E6"/>
          </a:solidFill>
          <a:ln>
            <a:miter lim="800000"/>
          </a:ln>
        </p:spPr>
      </p:sp>
      <p:sp>
        <p:nvSpPr>
          <p:cNvPr id="4" name="Text 2"/>
          <p:cNvSpPr/>
          <p:nvPr/>
        </p:nvSpPr>
        <p:spPr>
          <a:xfrm>
            <a:off x="762000" y="3861048"/>
            <a:ext cx="3333750" cy="2812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Isolation Principle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4218236"/>
            <a:ext cx="3333750" cy="2568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2025"/>
              </a:lnSpc>
              <a:spcBef>
                <a:spcPts val="585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Strict pipeline isolation.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928813" y="3005138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C2D1"/>
            </a:solidFill>
            <a:prstDash val="solid"/>
            <a:miter lim="800000"/>
          </a:ln>
        </p:spPr>
      </p:sp>
      <p:pic>
        <p:nvPicPr>
          <p:cNvPr id="7" name="Image 0" descr="-f9604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685" y="3194893"/>
            <a:ext cx="285750" cy="342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86250" y="3362325"/>
            <a:ext cx="3619500" cy="1595438"/>
          </a:xfrm>
          <a:prstGeom prst="rect">
            <a:avLst/>
          </a:prstGeom>
          <a:solidFill>
            <a:srgbClr val="66BAEC"/>
          </a:solidFill>
          <a:ln>
            <a:miter lim="800000"/>
          </a:ln>
        </p:spPr>
      </p:sp>
      <p:sp>
        <p:nvSpPr>
          <p:cNvPr id="9" name="Text 6"/>
          <p:cNvSpPr/>
          <p:nvPr/>
        </p:nvSpPr>
        <p:spPr>
          <a:xfrm>
            <a:off x="4572000" y="3861048"/>
            <a:ext cx="3333750" cy="2812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Training Integrity</a:t>
            </a:r>
          </a:p>
        </p:txBody>
      </p:sp>
      <p:sp>
        <p:nvSpPr>
          <p:cNvPr id="10" name="Text 7"/>
          <p:cNvSpPr/>
          <p:nvPr/>
        </p:nvSpPr>
        <p:spPr>
          <a:xfrm>
            <a:off x="4572000" y="4218236"/>
            <a:ext cx="3366195" cy="5137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2025"/>
              </a:lnSpc>
              <a:spcBef>
                <a:spcPts val="585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Preprocessing and feature selection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calculated within the training fold.</a:t>
            </a:r>
          </a:p>
        </p:txBody>
      </p:sp>
      <p:sp>
        <p:nvSpPr>
          <p:cNvPr id="11" name="Shape 8"/>
          <p:cNvSpPr/>
          <p:nvPr/>
        </p:nvSpPr>
        <p:spPr>
          <a:xfrm>
            <a:off x="5738813" y="3005138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9A6E6"/>
            </a:solidFill>
            <a:prstDash val="solid"/>
            <a:miter lim="800000"/>
          </a:ln>
        </p:spPr>
      </p:sp>
      <p:pic>
        <p:nvPicPr>
          <p:cNvPr id="12" name="Image 1" descr="5719bd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826" y="3203264"/>
            <a:ext cx="361950" cy="32385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096250" y="3362325"/>
            <a:ext cx="3619500" cy="1595438"/>
          </a:xfrm>
          <a:prstGeom prst="rect">
            <a:avLst/>
          </a:prstGeom>
          <a:solidFill>
            <a:srgbClr val="939BF1"/>
          </a:solidFill>
          <a:ln>
            <a:miter lim="800000"/>
          </a:ln>
        </p:spPr>
      </p:sp>
      <p:sp>
        <p:nvSpPr>
          <p:cNvPr id="14" name="Text 10"/>
          <p:cNvSpPr/>
          <p:nvPr/>
        </p:nvSpPr>
        <p:spPr>
          <a:xfrm>
            <a:off x="8382000" y="3861048"/>
            <a:ext cx="3333750" cy="2812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Test Set Security</a:t>
            </a:r>
          </a:p>
        </p:txBody>
      </p:sp>
      <p:sp>
        <p:nvSpPr>
          <p:cNvPr id="15" name="Text 11"/>
          <p:cNvSpPr/>
          <p:nvPr/>
        </p:nvSpPr>
        <p:spPr>
          <a:xfrm>
            <a:off x="8382000" y="4218236"/>
            <a:ext cx="3498354" cy="5137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>
              <a:lnSpc>
                <a:spcPts val="2025"/>
              </a:lnSpc>
              <a:spcBef>
                <a:spcPts val="585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hold-out set remains unseen until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final assessment.</a:t>
            </a:r>
          </a:p>
        </p:txBody>
      </p:sp>
      <p:sp>
        <p:nvSpPr>
          <p:cNvPr id="16" name="Shape 12"/>
          <p:cNvSpPr/>
          <p:nvPr/>
        </p:nvSpPr>
        <p:spPr>
          <a:xfrm>
            <a:off x="9548813" y="3005138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671EB"/>
            </a:solidFill>
            <a:prstDash val="solid"/>
            <a:miter lim="800000"/>
          </a:ln>
        </p:spPr>
      </p:sp>
      <p:pic>
        <p:nvPicPr>
          <p:cNvPr id="17" name="Image 2" descr="-6ee8591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0428" y="3190707"/>
            <a:ext cx="257175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3725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Exploratory Data Analysis (EDA)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476375" y="2691765"/>
            <a:ext cx="1428750" cy="1428750"/>
          </a:xfrm>
          <a:prstGeom prst="ellipse">
            <a:avLst/>
          </a:prstGeom>
          <a:solidFill>
            <a:srgbClr val="38D8E6"/>
          </a:solidFill>
          <a:ln>
            <a:miter lim="800000"/>
          </a:ln>
        </p:spPr>
      </p:sp>
      <p:pic>
        <p:nvPicPr>
          <p:cNvPr id="4" name="Image 0" descr="6fbc4c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746" y="3054476"/>
            <a:ext cx="685800" cy="6572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7675" y="4218146"/>
            <a:ext cx="3486150" cy="25955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045"/>
              </a:lnSpc>
            </a:pPr>
            <a:r>
              <a:rPr lang="en-US" sz="1800" kern="0" spc="-54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Data Cleaning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40935" y="4558070"/>
            <a:ext cx="3699629" cy="5137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025"/>
              </a:lnSpc>
              <a:spcBef>
                <a:spcPts val="620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Systematic inspection of missing values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and feature-level outliers.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381625" y="2691765"/>
            <a:ext cx="1428750" cy="1428750"/>
          </a:xfrm>
          <a:prstGeom prst="ellipse">
            <a:avLst/>
          </a:prstGeom>
          <a:solidFill>
            <a:srgbClr val="66BAEC"/>
          </a:solidFill>
          <a:ln>
            <a:miter lim="800000"/>
          </a:ln>
        </p:spPr>
      </p:sp>
      <p:pic>
        <p:nvPicPr>
          <p:cNvPr id="8" name="Image 1" descr="2e8086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4621" y="3138194"/>
            <a:ext cx="600075" cy="523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00563" y="4218146"/>
            <a:ext cx="3190875" cy="25955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045"/>
              </a:lnSpc>
            </a:pPr>
            <a:r>
              <a:rPr lang="en-US" kern="0" spc="-54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Structural Transformation</a:t>
            </a:r>
          </a:p>
        </p:txBody>
      </p:sp>
      <p:sp>
        <p:nvSpPr>
          <p:cNvPr id="10" name="Text 6"/>
          <p:cNvSpPr/>
          <p:nvPr/>
        </p:nvSpPr>
        <p:spPr>
          <a:xfrm>
            <a:off x="4410447" y="4558070"/>
            <a:ext cx="3371106" cy="5137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025"/>
              </a:lnSpc>
              <a:spcBef>
                <a:spcPts val="620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Reshaping high-dimensional feature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vectors.</a:t>
            </a:r>
          </a:p>
        </p:txBody>
      </p:sp>
      <p:sp>
        <p:nvSpPr>
          <p:cNvPr id="11" name="Shape 7"/>
          <p:cNvSpPr/>
          <p:nvPr/>
        </p:nvSpPr>
        <p:spPr>
          <a:xfrm>
            <a:off x="9286875" y="2691765"/>
            <a:ext cx="1428750" cy="1428750"/>
          </a:xfrm>
          <a:prstGeom prst="ellipse">
            <a:avLst/>
          </a:prstGeom>
          <a:solidFill>
            <a:srgbClr val="939BF1"/>
          </a:solidFill>
          <a:ln>
            <a:miter lim="800000"/>
          </a:ln>
        </p:spPr>
      </p:sp>
      <p:pic>
        <p:nvPicPr>
          <p:cNvPr id="12" name="Image 2" descr="-569f0b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1540" y="3029359"/>
            <a:ext cx="723900" cy="7048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05813" y="4218146"/>
            <a:ext cx="3190875" cy="25955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045"/>
              </a:lnSpc>
            </a:pPr>
            <a:r>
              <a:rPr lang="en-US" kern="0" spc="-54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Statistical Mapping</a:t>
            </a:r>
          </a:p>
        </p:txBody>
      </p:sp>
      <p:sp>
        <p:nvSpPr>
          <p:cNvPr id="14" name="Text 9"/>
          <p:cNvSpPr/>
          <p:nvPr/>
        </p:nvSpPr>
        <p:spPr>
          <a:xfrm>
            <a:off x="8316144" y="4558070"/>
            <a:ext cx="3370213" cy="5137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025"/>
              </a:lnSpc>
              <a:spcBef>
                <a:spcPts val="620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Correlation matrices to detect multi-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collinearity.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" y="95250"/>
            <a:ext cx="4128249" cy="666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3" name="Image 0" descr="a brain wave signal graph"/>
          <p:cNvPicPr>
            <a:picLocks noChangeAspect="1"/>
          </p:cNvPicPr>
          <p:nvPr/>
        </p:nvPicPr>
        <p:blipFill>
          <a:blip r:embed="rId3"/>
          <a:srcRect l="2476" r="2476"/>
          <a:stretch>
            <a:fillRect/>
          </a:stretch>
        </p:blipFill>
        <p:spPr>
          <a:xfrm>
            <a:off x="95250" y="95250"/>
            <a:ext cx="4128249" cy="6667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99749" y="2134046"/>
            <a:ext cx="7229475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1705"/>
              </a:lnSpc>
            </a:pPr>
            <a:r>
              <a:rPr lang="en-US" sz="1500" kern="0" spc="-45" dirty="0">
                <a:solidFill>
                  <a:srgbClr val="FF0000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Approach Details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4699749" y="2627412"/>
            <a:ext cx="7229475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3725"/>
              </a:lnSpc>
              <a:spcBef>
                <a:spcPts val="2140"/>
              </a:spcBef>
            </a:pPr>
            <a: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Modeling Methodology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48717" y="3531725"/>
            <a:ext cx="7548033" cy="13805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241300" indent="-241300" algn="l" fontAlgn="ctr">
              <a:lnSpc>
                <a:spcPts val="1875"/>
              </a:lnSpc>
              <a:spcBef>
                <a:spcPts val="1600"/>
              </a:spcBef>
              <a:buClr>
                <a:srgbClr val="48DC92"/>
              </a:buClr>
              <a:buSzPct val="120000"/>
              <a:buChar char="•"/>
            </a:pP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Black" pitchFamily="34" charset="-120"/>
              </a:rPr>
              <a:t>Feature Matrix (X):</a:t>
            </a: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 Constructed from processed EEG spectral metrics.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41300" indent="-241300" algn="l" fontAlgn="ctr">
              <a:lnSpc>
                <a:spcPts val="1875"/>
              </a:lnSpc>
              <a:spcBef>
                <a:spcPts val="1810"/>
              </a:spcBef>
              <a:buClr>
                <a:srgbClr val="48DC92"/>
              </a:buClr>
              <a:buSzPct val="120000"/>
              <a:buChar char="•"/>
            </a:pP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Black" pitchFamily="34" charset="-120"/>
              </a:rPr>
              <a:t>Target (y):</a:t>
            </a: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 3-class severity scheme.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41300" indent="-241300" algn="l" fontAlgn="ctr">
              <a:lnSpc>
                <a:spcPts val="1875"/>
              </a:lnSpc>
              <a:spcBef>
                <a:spcPts val="1810"/>
              </a:spcBef>
              <a:buClr>
                <a:srgbClr val="48DC92"/>
              </a:buClr>
              <a:buSzPct val="120000"/>
              <a:buChar char="•"/>
            </a:pP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Black" pitchFamily="34" charset="-120"/>
              </a:rPr>
              <a:t>Stratification:</a:t>
            </a: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 Participant-level split with 68 training and 17 held-out</a:t>
            </a:r>
            <a:b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</a:b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participants</a:t>
            </a:r>
            <a:r>
              <a:rPr lang="en-US" sz="1650" kern="0" spc="-49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3725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Exclusion Criteria &amp; Leakage Control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33375" y="1036141"/>
            <a:ext cx="115252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225"/>
              </a:lnSpc>
              <a:spcBef>
                <a:spcPts val="1135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Data processing and feature integrity measures for predictive modeling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76250" y="1733550"/>
            <a:ext cx="4476750" cy="464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5" name="Image 0" descr="a digital padlock"/>
          <p:cNvPicPr>
            <a:picLocks noChangeAspect="1"/>
          </p:cNvPicPr>
          <p:nvPr/>
        </p:nvPicPr>
        <p:blipFill>
          <a:blip r:embed="rId3"/>
          <a:srcRect l="4338" r="4338"/>
          <a:stretch>
            <a:fillRect/>
          </a:stretch>
        </p:blipFill>
        <p:spPr>
          <a:xfrm>
            <a:off x="476250" y="1733550"/>
            <a:ext cx="4476750" cy="4648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29250" y="2770436"/>
            <a:ext cx="6477000" cy="25782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 fontAlgn="ctr">
              <a:lnSpc>
                <a:spcPts val="2215"/>
              </a:lnSpc>
              <a:buClr>
                <a:srgbClr val="48DC92"/>
              </a:buClr>
              <a:buSzPct val="120000"/>
              <a:buChar char="•"/>
            </a:pPr>
            <a:r>
              <a:rPr lang="en-US" sz="1950" kern="0" spc="-58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Input Feature Constraints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41300" lvl="1" indent="0" algn="l" fontAlgn="ctr">
              <a:lnSpc>
                <a:spcPts val="2025"/>
              </a:lnSpc>
              <a:spcBef>
                <a:spcPts val="440"/>
              </a:spcBef>
              <a:buNone/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Focus on processed EEG features.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41300" indent="-241300" algn="l" fontAlgn="ctr">
              <a:lnSpc>
                <a:spcPts val="2215"/>
              </a:lnSpc>
              <a:spcBef>
                <a:spcPts val="2070"/>
              </a:spcBef>
              <a:buClr>
                <a:srgbClr val="48DC92"/>
              </a:buClr>
              <a:buSzPct val="120000"/>
              <a:buChar char="•"/>
            </a:pPr>
            <a:r>
              <a:rPr lang="en-US" sz="1950" kern="0" spc="-58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Data Sanitation &amp; Privacy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41300" lvl="1" indent="0" algn="l" fontAlgn="ctr">
              <a:lnSpc>
                <a:spcPts val="2025"/>
              </a:lnSpc>
              <a:spcBef>
                <a:spcPts val="440"/>
              </a:spcBef>
              <a:buNone/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Identifiers and demographic variables were excluded from predictive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features; Group was retained only as target y.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41300" indent="-241300" algn="l" fontAlgn="ctr">
              <a:lnSpc>
                <a:spcPts val="2215"/>
              </a:lnSpc>
              <a:spcBef>
                <a:spcPts val="2070"/>
              </a:spcBef>
              <a:buClr>
                <a:srgbClr val="48DC92"/>
              </a:buClr>
              <a:buSzPct val="120000"/>
              <a:buChar char="•"/>
            </a:pPr>
            <a:r>
              <a:rPr lang="en-US" sz="1950" kern="0" spc="-58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Prevention of Target Leakage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41300" lvl="1" indent="0" algn="l" fontAlgn="ctr">
              <a:lnSpc>
                <a:spcPts val="2025"/>
              </a:lnSpc>
              <a:spcBef>
                <a:spcPts val="440"/>
              </a:spcBef>
              <a:buNone/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Exclusion of BDI-II and PHQ-9 scores from independent variables.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3725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Evaluation Design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33375" y="1036141"/>
            <a:ext cx="115252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225"/>
              </a:lnSpc>
              <a:spcBef>
                <a:spcPts val="1135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Training and Evaluation Framework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76250" y="1733550"/>
            <a:ext cx="5572125" cy="69532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1553438" y="1874490"/>
            <a:ext cx="3417749" cy="42594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3355"/>
              </a:lnSpc>
            </a:pPr>
            <a:r>
              <a:rPr lang="en-US" sz="3375" kern="0" spc="-203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Training Set (68)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76250" y="2524125"/>
            <a:ext cx="5572125" cy="267176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7" name="Image 0" descr="A data analytics icon representing machine learning training processes."/>
          <p:cNvPicPr>
            <a:picLocks noChangeAspect="1"/>
          </p:cNvPicPr>
          <p:nvPr/>
        </p:nvPicPr>
        <p:blipFill>
          <a:blip r:embed="rId3"/>
          <a:srcRect t="27578" b="27578"/>
          <a:stretch>
            <a:fillRect/>
          </a:stretch>
        </p:blipFill>
        <p:spPr>
          <a:xfrm>
            <a:off x="476250" y="2524125"/>
            <a:ext cx="5572125" cy="267176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6250" y="5291138"/>
            <a:ext cx="5572125" cy="109061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sp>
        <p:nvSpPr>
          <p:cNvPr id="9" name="Text 6"/>
          <p:cNvSpPr/>
          <p:nvPr/>
        </p:nvSpPr>
        <p:spPr>
          <a:xfrm>
            <a:off x="867221" y="5578525"/>
            <a:ext cx="4790182" cy="5137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025"/>
              </a:lnSpc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Used for 5-fold cross-validation and hyperparameter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optimization.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143625" y="1733550"/>
            <a:ext cx="5572125" cy="69532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sp>
        <p:nvSpPr>
          <p:cNvPr id="11" name="Text 8"/>
          <p:cNvSpPr/>
          <p:nvPr/>
        </p:nvSpPr>
        <p:spPr>
          <a:xfrm>
            <a:off x="6698278" y="1874490"/>
            <a:ext cx="4462820" cy="42594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3355"/>
              </a:lnSpc>
            </a:pPr>
            <a:r>
              <a:rPr lang="en-US" sz="3375" kern="0" spc="-203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Held-Out Test Set (17)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143625" y="2524125"/>
            <a:ext cx="5572125" cy="267176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13" name="Image 1" descr="An icon representing a target or a bullseye."/>
          <p:cNvPicPr>
            <a:picLocks noChangeAspect="1"/>
          </p:cNvPicPr>
          <p:nvPr/>
        </p:nvPicPr>
        <p:blipFill>
          <a:blip r:embed="rId4"/>
          <a:srcRect t="27802" b="27802"/>
          <a:stretch>
            <a:fillRect/>
          </a:stretch>
        </p:blipFill>
        <p:spPr>
          <a:xfrm>
            <a:off x="6143625" y="2524125"/>
            <a:ext cx="5572125" cy="2671763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143625" y="5291138"/>
            <a:ext cx="5572125" cy="109061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sp>
        <p:nvSpPr>
          <p:cNvPr id="15" name="Text 11"/>
          <p:cNvSpPr/>
          <p:nvPr/>
        </p:nvSpPr>
        <p:spPr>
          <a:xfrm>
            <a:off x="6062663" y="5578525"/>
            <a:ext cx="5734050" cy="5137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025"/>
              </a:lnSpc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Used as the primary held-out evaluation on unseen participants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from the same dataset.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3725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Metrics for Success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33375" y="1036141"/>
            <a:ext cx="115252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225"/>
              </a:lnSpc>
              <a:spcBef>
                <a:spcPts val="1135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Performance evaluation across class categories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76250" y="1733550"/>
            <a:ext cx="3651250" cy="3924300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</p:sp>
      <p:pic>
        <p:nvPicPr>
          <p:cNvPr id="5" name="Image 0" descr="-6669a2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32" y="2274888"/>
            <a:ext cx="3086100" cy="3086100"/>
          </a:xfrm>
          <a:prstGeom prst="rect">
            <a:avLst/>
          </a:prstGeom>
        </p:spPr>
      </p:pic>
      <p:pic>
        <p:nvPicPr>
          <p:cNvPr id="6" name="Image 1" descr="6f2554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511" y="2274888"/>
            <a:ext cx="3057525" cy="3086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89062" y="3421559"/>
            <a:ext cx="1825526" cy="80471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6335"/>
              </a:lnSpc>
            </a:pPr>
            <a:r>
              <a:rPr lang="en-US" sz="6375" kern="0" spc="-382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64.4%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66750" y="1886396"/>
            <a:ext cx="3555950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1705"/>
              </a:lnSpc>
            </a:pPr>
            <a:r>
              <a:rPr lang="en-US" sz="1500" kern="0" spc="-4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Balanced Accuracy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270375" y="1733550"/>
            <a:ext cx="3651250" cy="3924300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</p:sp>
      <p:sp>
        <p:nvSpPr>
          <p:cNvPr id="10" name="Text 6"/>
          <p:cNvSpPr/>
          <p:nvPr/>
        </p:nvSpPr>
        <p:spPr>
          <a:xfrm>
            <a:off x="4556125" y="3454003"/>
            <a:ext cx="3049965" cy="84534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6655"/>
              </a:lnSpc>
            </a:pPr>
            <a:r>
              <a:rPr lang="en-US" sz="7500" kern="0" spc="-375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63.8%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460875" y="1886396"/>
            <a:ext cx="3555950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1705"/>
              </a:lnSpc>
            </a:pPr>
            <a:r>
              <a:rPr lang="en-US" sz="1500" kern="0" spc="-4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Macro-F1 Score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64500" y="1733550"/>
            <a:ext cx="3651250" cy="3924300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</p:sp>
      <p:sp>
        <p:nvSpPr>
          <p:cNvPr id="13" name="Text 9"/>
          <p:cNvSpPr/>
          <p:nvPr/>
        </p:nvSpPr>
        <p:spPr>
          <a:xfrm>
            <a:off x="8191490" y="2863751"/>
            <a:ext cx="3397270" cy="166583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ct val="100000"/>
              </a:lnSpc>
            </a:pPr>
            <a:r>
              <a:rPr lang="en-US" sz="1500" kern="0" spc="-4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These metrics provide a balanced assessment across the three severity classes; interpretation should remain cautious because of the small sample size</a:t>
            </a:r>
            <a:r>
              <a:rPr lang="en-US" sz="1600" dirty="0"/>
              <a:t>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</p:sp>
      <p:sp>
        <p:nvSpPr>
          <p:cNvPr id="15" name="Text 11"/>
          <p:cNvSpPr/>
          <p:nvPr/>
        </p:nvSpPr>
        <p:spPr>
          <a:xfrm>
            <a:off x="2605088" y="6378476"/>
            <a:ext cx="6981825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1875"/>
              </a:lnSpc>
            </a:pP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These metrics ensure a more balanced assessment across classes.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3725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Baseline Models Comparison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33375" y="1036141"/>
            <a:ext cx="115252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225"/>
              </a:lnSpc>
              <a:spcBef>
                <a:spcPts val="1135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Evaluation of performance and characteristics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76250" y="1733550"/>
            <a:ext cx="3683000" cy="69532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1101095" y="1874490"/>
            <a:ext cx="2433310" cy="42594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3355"/>
              </a:lnSpc>
            </a:pPr>
            <a:r>
              <a:rPr lang="en-US" sz="3375" kern="0" spc="-203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Extra Trees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76250" y="2524125"/>
            <a:ext cx="3683000" cy="267176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7" name="Image 0" descr="a bar chart showing performance metrics"/>
          <p:cNvPicPr>
            <a:picLocks noChangeAspect="1"/>
          </p:cNvPicPr>
          <p:nvPr/>
        </p:nvPicPr>
        <p:blipFill>
          <a:blip r:embed="rId3"/>
          <a:srcRect l="12379" r="12379"/>
          <a:stretch>
            <a:fillRect/>
          </a:stretch>
        </p:blipFill>
        <p:spPr>
          <a:xfrm>
            <a:off x="476250" y="2524125"/>
            <a:ext cx="3683000" cy="267176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6250" y="5291138"/>
            <a:ext cx="3683000" cy="109061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sp>
        <p:nvSpPr>
          <p:cNvPr id="9" name="Text 6"/>
          <p:cNvSpPr/>
          <p:nvPr/>
        </p:nvSpPr>
        <p:spPr>
          <a:xfrm>
            <a:off x="794598" y="5707112"/>
            <a:ext cx="3046303" cy="2568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025"/>
              </a:lnSpc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Strongest baseline performance.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254500" y="1733550"/>
            <a:ext cx="3683000" cy="69532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sp>
        <p:nvSpPr>
          <p:cNvPr id="11" name="Text 8"/>
          <p:cNvSpPr/>
          <p:nvPr/>
        </p:nvSpPr>
        <p:spPr>
          <a:xfrm>
            <a:off x="4266411" y="1894731"/>
            <a:ext cx="3659178" cy="37861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980"/>
              </a:lnSpc>
            </a:pPr>
            <a:r>
              <a:rPr lang="en-US" sz="3000" kern="0" spc="-18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Logistic Regression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254500" y="2524125"/>
            <a:ext cx="3683000" cy="267176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13" name="Image 1" descr="A linear regression line plotted on a scatter plot."/>
          <p:cNvPicPr>
            <a:picLocks noChangeAspect="1"/>
          </p:cNvPicPr>
          <p:nvPr/>
        </p:nvPicPr>
        <p:blipFill>
          <a:blip r:embed="rId4"/>
          <a:srcRect l="768" r="768"/>
          <a:stretch>
            <a:fillRect/>
          </a:stretch>
        </p:blipFill>
        <p:spPr>
          <a:xfrm>
            <a:off x="4254500" y="2524125"/>
            <a:ext cx="3683000" cy="2671763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254500" y="5291138"/>
            <a:ext cx="3683000" cy="109061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sp>
        <p:nvSpPr>
          <p:cNvPr id="15" name="Text 11"/>
          <p:cNvSpPr/>
          <p:nvPr/>
        </p:nvSpPr>
        <p:spPr>
          <a:xfrm>
            <a:off x="5317569" y="5707112"/>
            <a:ext cx="1556861" cy="2568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025"/>
              </a:lnSpc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Linear baseline.</a:t>
            </a:r>
          </a:p>
        </p:txBody>
      </p:sp>
      <p:sp>
        <p:nvSpPr>
          <p:cNvPr id="16" name="Shape 12"/>
          <p:cNvSpPr/>
          <p:nvPr/>
        </p:nvSpPr>
        <p:spPr>
          <a:xfrm>
            <a:off x="8032750" y="1733550"/>
            <a:ext cx="3683000" cy="69532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sp>
        <p:nvSpPr>
          <p:cNvPr id="17" name="Text 13"/>
          <p:cNvSpPr/>
          <p:nvPr/>
        </p:nvSpPr>
        <p:spPr>
          <a:xfrm>
            <a:off x="9278938" y="1874490"/>
            <a:ext cx="1190625" cy="42594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3355"/>
              </a:lnSpc>
            </a:pPr>
            <a:r>
              <a:rPr lang="en-US" sz="3375" kern="0" spc="-203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SVM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8032750" y="2524125"/>
            <a:ext cx="3683000" cy="267176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19" name="Image 2" descr="A geometric hyperplane dividing two sets of data points"/>
          <p:cNvPicPr>
            <a:picLocks noChangeAspect="1"/>
          </p:cNvPicPr>
          <p:nvPr/>
        </p:nvPicPr>
        <p:blipFill>
          <a:blip r:embed="rId5"/>
          <a:srcRect t="13728" b="13728"/>
          <a:stretch>
            <a:fillRect/>
          </a:stretch>
        </p:blipFill>
        <p:spPr>
          <a:xfrm>
            <a:off x="8032750" y="2524125"/>
            <a:ext cx="3683000" cy="2671763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32750" y="5291138"/>
            <a:ext cx="3683000" cy="109061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sp>
        <p:nvSpPr>
          <p:cNvPr id="21" name="Text 16"/>
          <p:cNvSpPr/>
          <p:nvPr/>
        </p:nvSpPr>
        <p:spPr>
          <a:xfrm>
            <a:off x="8374613" y="5578525"/>
            <a:ext cx="2999274" cy="5137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025"/>
              </a:lnSpc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Non-linear comparison for high-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dimensional spaces.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3725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Tuning the Extra Trees Model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33375" y="1036141"/>
            <a:ext cx="115252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225"/>
              </a:lnSpc>
              <a:spcBef>
                <a:spcPts val="1135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Model optimization parameters and feature selection settings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476375" y="2779395"/>
            <a:ext cx="1428750" cy="1428750"/>
          </a:xfrm>
          <a:prstGeom prst="ellipse">
            <a:avLst/>
          </a:prstGeom>
          <a:solidFill>
            <a:srgbClr val="38D8E6"/>
          </a:solidFill>
          <a:ln>
            <a:miter lim="800000"/>
          </a:ln>
        </p:spPr>
      </p:sp>
      <p:pic>
        <p:nvPicPr>
          <p:cNvPr id="5" name="Image 0" descr="54fe1c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2865" y="3209101"/>
            <a:ext cx="533400" cy="590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33375" y="4305776"/>
            <a:ext cx="3714750" cy="25955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045"/>
              </a:lnSpc>
            </a:pPr>
            <a:r>
              <a:rPr lang="en-US" sz="1800" kern="0" spc="-54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Ensemble Size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14685" y="4645700"/>
            <a:ext cx="3952131" cy="5137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025"/>
              </a:lnSpc>
              <a:spcBef>
                <a:spcPts val="620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Selected 300 trees during hyperparameter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tuning.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381625" y="2779395"/>
            <a:ext cx="1428750" cy="1428750"/>
          </a:xfrm>
          <a:prstGeom prst="ellipse">
            <a:avLst/>
          </a:prstGeom>
          <a:solidFill>
            <a:srgbClr val="66BAEC"/>
          </a:solidFill>
          <a:ln>
            <a:miter lim="800000"/>
          </a:ln>
        </p:spPr>
      </p:sp>
      <p:pic>
        <p:nvPicPr>
          <p:cNvPr id="9" name="Image 1" descr="-795c4c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6020" y="3117026"/>
            <a:ext cx="733425" cy="762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81500" y="4305776"/>
            <a:ext cx="3429000" cy="25955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045"/>
              </a:lnSpc>
            </a:pPr>
            <a:r>
              <a:rPr lang="en-US" kern="0" spc="-54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Feature Strategy</a:t>
            </a:r>
          </a:p>
        </p:txBody>
      </p:sp>
      <p:sp>
        <p:nvSpPr>
          <p:cNvPr id="11" name="Text 7"/>
          <p:cNvSpPr/>
          <p:nvPr/>
        </p:nvSpPr>
        <p:spPr>
          <a:xfrm>
            <a:off x="4277097" y="4645700"/>
            <a:ext cx="3637806" cy="2568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025"/>
              </a:lnSpc>
              <a:spcBef>
                <a:spcPts val="620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Top 100 features using ANOVA F-score.</a:t>
            </a:r>
          </a:p>
        </p:txBody>
      </p:sp>
      <p:sp>
        <p:nvSpPr>
          <p:cNvPr id="12" name="Shape 8"/>
          <p:cNvSpPr/>
          <p:nvPr/>
        </p:nvSpPr>
        <p:spPr>
          <a:xfrm>
            <a:off x="9286875" y="2779395"/>
            <a:ext cx="1428750" cy="1428750"/>
          </a:xfrm>
          <a:prstGeom prst="ellipse">
            <a:avLst/>
          </a:prstGeom>
          <a:solidFill>
            <a:srgbClr val="939BF1"/>
          </a:solidFill>
          <a:ln>
            <a:miter lim="800000"/>
          </a:ln>
        </p:spPr>
      </p:sp>
      <p:pic>
        <p:nvPicPr>
          <p:cNvPr id="13" name="Image 2" descr="-7d898f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8016" y="3234224"/>
            <a:ext cx="695325" cy="5143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48732" y="4305776"/>
            <a:ext cx="2905036" cy="25955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045"/>
              </a:lnSpc>
            </a:pPr>
            <a:r>
              <a:rPr lang="en-US" kern="0" spc="-54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Parameter Optimization</a:t>
            </a:r>
          </a:p>
        </p:txBody>
      </p:sp>
      <p:sp>
        <p:nvSpPr>
          <p:cNvPr id="15" name="Text 10"/>
          <p:cNvSpPr/>
          <p:nvPr/>
        </p:nvSpPr>
        <p:spPr>
          <a:xfrm>
            <a:off x="8546574" y="4645700"/>
            <a:ext cx="2909352" cy="2568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025"/>
              </a:lnSpc>
              <a:spcBef>
                <a:spcPts val="620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Fine-tuning min_samples_leaf.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3725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Rigorous Selection Protocol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76250" y="3362325"/>
            <a:ext cx="3619500" cy="1595438"/>
          </a:xfrm>
          <a:prstGeom prst="rect">
            <a:avLst/>
          </a:prstGeom>
          <a:solidFill>
            <a:srgbClr val="38D8E6"/>
          </a:solidFill>
          <a:ln>
            <a:miter lim="800000"/>
          </a:ln>
        </p:spPr>
      </p:sp>
      <p:sp>
        <p:nvSpPr>
          <p:cNvPr id="4" name="Text 2"/>
          <p:cNvSpPr/>
          <p:nvPr/>
        </p:nvSpPr>
        <p:spPr>
          <a:xfrm>
            <a:off x="762000" y="3861048"/>
            <a:ext cx="3333750" cy="2812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Cross-Validation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4218236"/>
            <a:ext cx="3333750" cy="2568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2025"/>
              </a:lnSpc>
              <a:spcBef>
                <a:spcPts val="585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5-Fold Stratified approach.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928813" y="3005138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C2D1"/>
            </a:solidFill>
            <a:prstDash val="solid"/>
            <a:miter lim="800000"/>
          </a:ln>
        </p:spPr>
      </p:sp>
      <p:pic>
        <p:nvPicPr>
          <p:cNvPr id="7" name="Image 0" descr="-ec272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568" y="3161409"/>
            <a:ext cx="342900" cy="4000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86250" y="3362325"/>
            <a:ext cx="3619500" cy="1595438"/>
          </a:xfrm>
          <a:prstGeom prst="rect">
            <a:avLst/>
          </a:prstGeom>
          <a:solidFill>
            <a:srgbClr val="66BAEC"/>
          </a:solidFill>
          <a:ln>
            <a:miter lim="800000"/>
          </a:ln>
        </p:spPr>
      </p:sp>
      <p:sp>
        <p:nvSpPr>
          <p:cNvPr id="9" name="Text 6"/>
          <p:cNvSpPr/>
          <p:nvPr/>
        </p:nvSpPr>
        <p:spPr>
          <a:xfrm>
            <a:off x="4572000" y="3861048"/>
            <a:ext cx="3333750" cy="2812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Statistical Integrity</a:t>
            </a:r>
          </a:p>
        </p:txBody>
      </p:sp>
      <p:sp>
        <p:nvSpPr>
          <p:cNvPr id="10" name="Text 7"/>
          <p:cNvSpPr/>
          <p:nvPr/>
        </p:nvSpPr>
        <p:spPr>
          <a:xfrm>
            <a:off x="4572000" y="4218236"/>
            <a:ext cx="3333750" cy="2568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2025"/>
              </a:lnSpc>
              <a:spcBef>
                <a:spcPts val="585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Preserving target distribution</a:t>
            </a: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5738813" y="3005138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9A6E6"/>
            </a:solidFill>
            <a:prstDash val="solid"/>
            <a:miter lim="800000"/>
          </a:ln>
        </p:spPr>
      </p:sp>
      <p:pic>
        <p:nvPicPr>
          <p:cNvPr id="12" name="Image 1" descr="-2fafb3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012" y="3182336"/>
            <a:ext cx="361950" cy="36195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096250" y="3362325"/>
            <a:ext cx="3619500" cy="1595438"/>
          </a:xfrm>
          <a:prstGeom prst="rect">
            <a:avLst/>
          </a:prstGeom>
          <a:solidFill>
            <a:srgbClr val="939BF1"/>
          </a:solidFill>
          <a:ln>
            <a:miter lim="800000"/>
          </a:ln>
        </p:spPr>
      </p:sp>
      <p:sp>
        <p:nvSpPr>
          <p:cNvPr id="14" name="Text 10"/>
          <p:cNvSpPr/>
          <p:nvPr/>
        </p:nvSpPr>
        <p:spPr>
          <a:xfrm>
            <a:off x="8382000" y="3861048"/>
            <a:ext cx="3333750" cy="2812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>
              <a:lnSpc>
                <a:spcPts val="2215"/>
              </a:lnSpc>
            </a:pPr>
            <a:r>
              <a:rPr lang="en-US" sz="1950" kern="0" spc="-58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Stability Assessment</a:t>
            </a:r>
          </a:p>
        </p:txBody>
      </p:sp>
      <p:sp>
        <p:nvSpPr>
          <p:cNvPr id="15" name="Text 11"/>
          <p:cNvSpPr/>
          <p:nvPr/>
        </p:nvSpPr>
        <p:spPr>
          <a:xfrm>
            <a:off x="8382000" y="4218236"/>
            <a:ext cx="3344614" cy="5137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2025"/>
              </a:lnSpc>
              <a:spcBef>
                <a:spcPts val="585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Used to quantify performance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variability and reduce selection bias</a:t>
            </a: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.</a:t>
            </a: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9548813" y="3005138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671EB"/>
            </a:solidFill>
            <a:prstDash val="solid"/>
            <a:miter lim="800000"/>
          </a:ln>
        </p:spPr>
      </p:sp>
      <p:pic>
        <p:nvPicPr>
          <p:cNvPr id="17" name="Image 2" descr="-f9604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3685" y="3194893"/>
            <a:ext cx="28575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3725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Held-Out Test Classification Metrics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33375" y="1036141"/>
            <a:ext cx="115252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225"/>
              </a:lnSpc>
              <a:spcBef>
                <a:spcPts val="1135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Performance analysis of participant classification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76250" y="1733550"/>
            <a:ext cx="5548313" cy="2252663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762000" y="2276773"/>
            <a:ext cx="2546509" cy="10566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8320"/>
              </a:lnSpc>
            </a:pPr>
            <a:r>
              <a:rPr lang="en-US" sz="9375" kern="0" spc="-469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64.7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" y="3615184"/>
            <a:ext cx="1104900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1705"/>
              </a:lnSpc>
            </a:pPr>
            <a:r>
              <a:rPr lang="en-US" sz="1500" kern="0" spc="-45" dirty="0">
                <a:solidFill>
                  <a:srgbClr val="000000">
                    <a:alpha val="65000"/>
                  </a:srgbClr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Accuracy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6750" y="1886396"/>
            <a:ext cx="5453063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1705"/>
              </a:lnSpc>
            </a:pPr>
            <a:r>
              <a:rPr lang="en-US" sz="1500" kern="0" spc="-4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Accuracy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6250" y="4129088"/>
            <a:ext cx="5548313" cy="2252663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</p:sp>
      <p:sp>
        <p:nvSpPr>
          <p:cNvPr id="9" name="Text 7"/>
          <p:cNvSpPr/>
          <p:nvPr/>
        </p:nvSpPr>
        <p:spPr>
          <a:xfrm>
            <a:off x="762000" y="4672310"/>
            <a:ext cx="2762964" cy="10566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8320"/>
              </a:lnSpc>
            </a:pPr>
            <a:r>
              <a:rPr lang="en-US" sz="9375" kern="0" spc="-469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64.4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6750" y="6010721"/>
            <a:ext cx="2015579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1705"/>
              </a:lnSpc>
            </a:pPr>
            <a:r>
              <a:rPr lang="en-US" sz="1500" kern="0" spc="-45" dirty="0">
                <a:solidFill>
                  <a:srgbClr val="000000">
                    <a:alpha val="65000"/>
                  </a:srgbClr>
                </a:solidFill>
                <a:latin typeface="Geist Semi Bold" pitchFamily="34" charset="0"/>
                <a:ea typeface="Geist Semi Bold" pitchFamily="34" charset="-122"/>
              </a:rPr>
              <a:t>Balanced Accuracy</a:t>
            </a:r>
          </a:p>
        </p:txBody>
      </p:sp>
      <p:sp>
        <p:nvSpPr>
          <p:cNvPr id="11" name="Text 9"/>
          <p:cNvSpPr/>
          <p:nvPr/>
        </p:nvSpPr>
        <p:spPr>
          <a:xfrm>
            <a:off x="666750" y="4281934"/>
            <a:ext cx="5453063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1705"/>
              </a:lnSpc>
            </a:pPr>
            <a:r>
              <a:rPr lang="en-US" sz="1500" kern="0" spc="-4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Balanced Accuracy</a:t>
            </a:r>
          </a:p>
        </p:txBody>
      </p:sp>
      <p:sp>
        <p:nvSpPr>
          <p:cNvPr id="12" name="Shape 10"/>
          <p:cNvSpPr/>
          <p:nvPr/>
        </p:nvSpPr>
        <p:spPr>
          <a:xfrm>
            <a:off x="6167438" y="1733550"/>
            <a:ext cx="5548313" cy="2252663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53188" y="2276773"/>
            <a:ext cx="2758440" cy="10566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8320"/>
              </a:lnSpc>
            </a:pPr>
            <a:r>
              <a:rPr lang="en-US" sz="9375" kern="0" spc="-469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63.8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57938" y="3615184"/>
            <a:ext cx="1672054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1705"/>
              </a:lnSpc>
            </a:pPr>
            <a:r>
              <a:rPr lang="en-US" sz="1500" kern="0" spc="-45" dirty="0">
                <a:solidFill>
                  <a:srgbClr val="000000">
                    <a:alpha val="65000"/>
                  </a:srgbClr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Macro-F1 Score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57938" y="1886396"/>
            <a:ext cx="5453063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1705"/>
              </a:lnSpc>
            </a:pPr>
            <a:r>
              <a:rPr lang="en-US" sz="1500" kern="0" spc="-4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Macro-F1 Score</a:t>
            </a:r>
          </a:p>
        </p:txBody>
      </p:sp>
      <p:sp>
        <p:nvSpPr>
          <p:cNvPr id="16" name="Shape 14"/>
          <p:cNvSpPr/>
          <p:nvPr/>
        </p:nvSpPr>
        <p:spPr>
          <a:xfrm>
            <a:off x="6167438" y="4129088"/>
            <a:ext cx="5548313" cy="2252663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</p:sp>
      <p:sp>
        <p:nvSpPr>
          <p:cNvPr id="17" name="Text 15"/>
          <p:cNvSpPr/>
          <p:nvPr/>
        </p:nvSpPr>
        <p:spPr>
          <a:xfrm>
            <a:off x="6500336" y="4842570"/>
            <a:ext cx="4882515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3725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Patient Classification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621110" y="5409009"/>
            <a:ext cx="4640967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1875"/>
              </a:lnSpc>
              <a:spcBef>
                <a:spcPts val="720"/>
              </a:spcBef>
            </a:pPr>
            <a:r>
              <a:rPr lang="en-US" sz="1500" kern="0" spc="-4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11 out of 17 participants correctly classified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381696"/>
            <a:ext cx="7105650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1705"/>
              </a:lnSpc>
            </a:pPr>
            <a:r>
              <a:rPr lang="en-US" sz="1500" kern="0" spc="-45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Performance Overview</a:t>
            </a:r>
            <a:endParaRPr lang="en-US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6250" y="2875062"/>
            <a:ext cx="74866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3725"/>
              </a:lnSpc>
              <a:spcBef>
                <a:spcPts val="2140"/>
              </a:spcBef>
            </a:pPr>
            <a: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Class-Wise Performance Analysis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6250" y="3495377"/>
            <a:ext cx="71056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2225"/>
              </a:lnSpc>
              <a:spcBef>
                <a:spcPts val="1135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Performance fluctuations were detected across categories.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</p:sp>
      <p:sp>
        <p:nvSpPr>
          <p:cNvPr id="6" name="Text 4"/>
          <p:cNvSpPr/>
          <p:nvPr/>
        </p:nvSpPr>
        <p:spPr>
          <a:xfrm>
            <a:off x="2276475" y="6378476"/>
            <a:ext cx="7639050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1875"/>
              </a:lnSpc>
            </a:pP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Interpretation of results should be cautious due to the limited sample size.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3725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Understanding Uncertainty &amp; Sensitivity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33375" y="1036141"/>
            <a:ext cx="115252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225"/>
              </a:lnSpc>
              <a:spcBef>
                <a:spcPts val="1135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Stability and Variance Analysis in Neuro-imaging Research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76250" y="1733550"/>
            <a:ext cx="3651250" cy="3924300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762000" y="3112591"/>
            <a:ext cx="3297317" cy="10566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8320"/>
              </a:lnSpc>
            </a:pPr>
            <a:r>
              <a:rPr lang="en-US" sz="9375" kern="0" spc="-469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0.521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" y="5286821"/>
            <a:ext cx="3297317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/>
            <a:r>
              <a:rPr lang="en-US" sz="1600" dirty="0"/>
              <a:t>Mean Repeated-CV Balanced Accuracy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66750" y="1886396"/>
            <a:ext cx="3578617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1705"/>
              </a:lnSpc>
            </a:pPr>
            <a:r>
              <a:rPr lang="en-US" sz="1500" kern="0" spc="-4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Repeated Cross-Validation Stability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70375" y="1733550"/>
            <a:ext cx="3651250" cy="3924300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</p:sp>
      <p:pic>
        <p:nvPicPr>
          <p:cNvPr id="9" name="Image 0" descr="-6669a2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107" y="2274888"/>
            <a:ext cx="3086100" cy="30861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83188" y="3446562"/>
            <a:ext cx="1825526" cy="7573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5965"/>
              </a:lnSpc>
            </a:pPr>
            <a:r>
              <a:rPr lang="en-US" sz="6000" kern="0" spc="-36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11.3%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460875" y="1886396"/>
            <a:ext cx="3555950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>
              <a:lnSpc>
                <a:spcPts val="1705"/>
              </a:lnSpc>
            </a:pPr>
            <a:r>
              <a:rPr lang="en-US" sz="1500" kern="0" spc="-4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Repeated Cross-Validation Deviation</a:t>
            </a:r>
          </a:p>
          <a:p>
            <a:pPr algn="l" fontAlgn="ctr">
              <a:lnSpc>
                <a:spcPts val="1705"/>
              </a:lnSpc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064500" y="1733550"/>
            <a:ext cx="3651250" cy="3924300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</p:sp>
      <p:sp>
        <p:nvSpPr>
          <p:cNvPr id="14" name="Text 10"/>
          <p:cNvSpPr/>
          <p:nvPr/>
        </p:nvSpPr>
        <p:spPr>
          <a:xfrm>
            <a:off x="8223250" y="3044726"/>
            <a:ext cx="33337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3725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Interpretation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8125098" y="3611166"/>
            <a:ext cx="3530054" cy="92696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ct val="100000"/>
              </a:lnSpc>
              <a:spcBef>
                <a:spcPts val="720"/>
              </a:spcBef>
            </a:pPr>
            <a:r>
              <a:rPr lang="en-US" sz="1500" kern="0" spc="-4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Performance varied across repeated splits, reflecting sensitivity to individual participants in this small dataset</a:t>
            </a:r>
            <a:r>
              <a:rPr lang="en-US" sz="1600" dirty="0"/>
              <a:t>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</p:sp>
      <p:sp>
        <p:nvSpPr>
          <p:cNvPr id="17" name="Text 13"/>
          <p:cNvSpPr/>
          <p:nvPr/>
        </p:nvSpPr>
        <p:spPr>
          <a:xfrm>
            <a:off x="137583" y="6370787"/>
            <a:ext cx="11419417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ct val="100000"/>
              </a:lnSpc>
            </a:pPr>
            <a:r>
              <a:rPr lang="en-US" sz="1500" kern="0" spc="-4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Interpretation: Repeated-CV variability should be considered when assessing model reliability.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3725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Transparency in Revision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33375" y="1036141"/>
            <a:ext cx="115252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225"/>
              </a:lnSpc>
              <a:spcBef>
                <a:spcPts val="1135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Evolution of our pipeline and reproducibility standards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Image 0" descr="46fc5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657475"/>
            <a:ext cx="4953000" cy="95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2500" y="2173635"/>
            <a:ext cx="5238750" cy="28396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2235"/>
              </a:lnSpc>
            </a:pPr>
            <a:r>
              <a:rPr lang="en-US" sz="2250" kern="0" spc="-13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Manual/Legacy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Image 1" descr="46fc5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657475"/>
            <a:ext cx="4953000" cy="95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86500" y="2173635"/>
            <a:ext cx="5238750" cy="28396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fontAlgn="ctr">
              <a:lnSpc>
                <a:spcPts val="2235"/>
              </a:lnSpc>
            </a:pPr>
            <a:r>
              <a:rPr lang="en-US" sz="2250" kern="0" spc="-13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Integrated/Modular</a:t>
            </a:r>
          </a:p>
        </p:txBody>
      </p:sp>
      <p:sp>
        <p:nvSpPr>
          <p:cNvPr id="8" name="Text 4"/>
          <p:cNvSpPr/>
          <p:nvPr/>
        </p:nvSpPr>
        <p:spPr>
          <a:xfrm>
            <a:off x="952500" y="3037136"/>
            <a:ext cx="5238750" cy="167610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 fontAlgn="ctr">
              <a:lnSpc>
                <a:spcPts val="2215"/>
              </a:lnSpc>
              <a:buClr>
                <a:srgbClr val="48DC92"/>
              </a:buClr>
              <a:buSzPct val="120000"/>
              <a:buChar char="•"/>
            </a:pPr>
            <a:r>
              <a:rPr lang="en-US" sz="1950" kern="0" spc="-58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Fragmented pipeline processes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41300" indent="-241300" algn="l" fontAlgn="ctr">
              <a:lnSpc>
                <a:spcPts val="2215"/>
              </a:lnSpc>
              <a:spcBef>
                <a:spcPts val="2125"/>
              </a:spcBef>
              <a:buClr>
                <a:srgbClr val="48DC92"/>
              </a:buClr>
              <a:buSzPct val="120000"/>
              <a:buChar char="•"/>
            </a:pPr>
            <a:r>
              <a:rPr lang="en-US" sz="1950" kern="0" spc="-58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Heavy reliance on manual intervention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41300" indent="-241300" algn="l" fontAlgn="ctr">
              <a:lnSpc>
                <a:spcPts val="2215"/>
              </a:lnSpc>
              <a:spcBef>
                <a:spcPts val="2125"/>
              </a:spcBef>
              <a:buClr>
                <a:srgbClr val="48DC92"/>
              </a:buClr>
              <a:buSzPct val="120000"/>
              <a:buChar char="•"/>
            </a:pPr>
            <a:r>
              <a:rPr lang="en-US" sz="1950" kern="0" spc="-58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High susceptibility to human error in</a:t>
            </a:r>
            <a:br>
              <a:rPr lang="en-US" sz="1950" kern="0" spc="-58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</a:br>
            <a:r>
              <a:rPr lang="en-US" sz="1950" kern="0" spc="-58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calculations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286500" y="3037136"/>
            <a:ext cx="5238750" cy="195738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 fontAlgn="ctr">
              <a:lnSpc>
                <a:spcPts val="2215"/>
              </a:lnSpc>
              <a:buClr>
                <a:srgbClr val="48DC92"/>
              </a:buClr>
              <a:buSzPct val="120000"/>
              <a:buChar char="•"/>
            </a:pPr>
            <a:r>
              <a:rPr lang="en-US" sz="1950" kern="0" spc="-58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Transitioned to an integrated, modular</a:t>
            </a:r>
            <a:br>
              <a:rPr lang="en-US" sz="1950" kern="0" spc="-58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950" kern="0" spc="-58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pipeline</a:t>
            </a:r>
          </a:p>
          <a:p>
            <a:pPr marL="241300" indent="-241300" algn="l" fontAlgn="ctr">
              <a:lnSpc>
                <a:spcPts val="2215"/>
              </a:lnSpc>
              <a:spcBef>
                <a:spcPts val="2125"/>
              </a:spcBef>
              <a:buClr>
                <a:srgbClr val="48DC92"/>
              </a:buClr>
              <a:buSzPct val="120000"/>
              <a:buChar char="•"/>
            </a:pPr>
            <a:r>
              <a:rPr lang="en-US" sz="1950" kern="0" spc="-58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Automated preprocessing workflows</a:t>
            </a:r>
          </a:p>
          <a:p>
            <a:pPr marL="241300" indent="-241300" algn="l" fontAlgn="ctr">
              <a:lnSpc>
                <a:spcPts val="2215"/>
              </a:lnSpc>
              <a:spcBef>
                <a:spcPts val="2125"/>
              </a:spcBef>
              <a:buClr>
                <a:srgbClr val="48DC92"/>
              </a:buClr>
              <a:buSzPct val="120000"/>
              <a:buChar char="•"/>
            </a:pPr>
            <a:r>
              <a:rPr lang="en-US" sz="1950" kern="0" spc="-58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Reduced manual intervention in</a:t>
            </a:r>
            <a:br>
              <a:rPr lang="en-US" sz="1950" kern="0" spc="-58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950" kern="0" spc="-58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calculations for improved reproducibility</a:t>
            </a:r>
          </a:p>
        </p:txBody>
      </p:sp>
      <p:sp>
        <p:nvSpPr>
          <p:cNvPr id="10" name="Shape 6"/>
          <p:cNvSpPr/>
          <p:nvPr/>
        </p:nvSpPr>
        <p:spPr>
          <a:xfrm>
            <a:off x="0" y="5895975"/>
            <a:ext cx="12192000" cy="962025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</p:sp>
      <p:sp>
        <p:nvSpPr>
          <p:cNvPr id="11" name="Text 7"/>
          <p:cNvSpPr/>
          <p:nvPr/>
        </p:nvSpPr>
        <p:spPr>
          <a:xfrm>
            <a:off x="2400300" y="6140351"/>
            <a:ext cx="7391400" cy="47595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1875"/>
              </a:lnSpc>
            </a:pP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By shifting to a modular and automated approach, we have significantly</a:t>
            </a:r>
            <a:b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</a:b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increased transparency and reliability across our revision processes.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3725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Limitations and Realism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62250" y="2588895"/>
            <a:ext cx="1428750" cy="1428750"/>
          </a:xfrm>
          <a:prstGeom prst="ellipse">
            <a:avLst/>
          </a:prstGeom>
          <a:solidFill>
            <a:srgbClr val="38D8E6"/>
          </a:solidFill>
          <a:ln>
            <a:miter lim="800000"/>
          </a:ln>
        </p:spPr>
      </p:sp>
      <p:pic>
        <p:nvPicPr>
          <p:cNvPr id="4" name="Image 0" descr="-5d7fdd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275" y="3077208"/>
            <a:ext cx="752475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95425" y="4115276"/>
            <a:ext cx="3962400" cy="25955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045"/>
              </a:lnSpc>
            </a:pPr>
            <a:r>
              <a:rPr lang="en-US" sz="1800" kern="0" spc="-54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Sample Size Constraints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366510" y="4455200"/>
            <a:ext cx="4220230" cy="77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025"/>
              </a:lnSpc>
              <a:spcBef>
                <a:spcPts val="620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The dataset contains 85 participants, with 68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used for training, limiting statistical power and</a:t>
            </a:r>
            <a:b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generalizability.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001000" y="2588895"/>
            <a:ext cx="1428750" cy="1428750"/>
          </a:xfrm>
          <a:prstGeom prst="ellipse">
            <a:avLst/>
          </a:prstGeom>
          <a:solidFill>
            <a:srgbClr val="939BF1"/>
          </a:solidFill>
          <a:ln>
            <a:miter lim="800000"/>
          </a:ln>
        </p:spPr>
      </p:sp>
      <p:pic>
        <p:nvPicPr>
          <p:cNvPr id="8" name="Image 1" descr="52c3b0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4230" y="3052091"/>
            <a:ext cx="504825" cy="495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290" y="4115276"/>
            <a:ext cx="3166170" cy="25955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045"/>
              </a:lnSpc>
            </a:pPr>
            <a:r>
              <a:rPr lang="en-US" kern="0" spc="-54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Generalization Challenges</a:t>
            </a:r>
          </a:p>
        </p:txBody>
      </p:sp>
      <p:sp>
        <p:nvSpPr>
          <p:cNvPr id="10" name="Text 6"/>
          <p:cNvSpPr/>
          <p:nvPr/>
        </p:nvSpPr>
        <p:spPr>
          <a:xfrm>
            <a:off x="7215188" y="4455200"/>
            <a:ext cx="3000375" cy="2568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025"/>
              </a:lnSpc>
              <a:spcBef>
                <a:spcPts val="620"/>
              </a:spcBef>
            </a:pPr>
            <a:r>
              <a:rPr lang="en-US" sz="1500" kern="0" spc="-60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Broader validation is required.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0" y="0"/>
            <a:ext cx="6096000" cy="613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3" name="Image 0" descr="a brain scan icon"/>
          <p:cNvPicPr>
            <a:picLocks noChangeAspect="1"/>
          </p:cNvPicPr>
          <p:nvPr/>
        </p:nvPicPr>
        <p:blipFill>
          <a:blip r:embed="rId3"/>
          <a:srcRect l="311" r="311"/>
          <a:stretch>
            <a:fillRect/>
          </a:stretch>
        </p:blipFill>
        <p:spPr>
          <a:xfrm>
            <a:off x="6096000" y="0"/>
            <a:ext cx="6096000" cy="6134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6250" y="1653034"/>
            <a:ext cx="5343525" cy="2163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1705"/>
              </a:lnSpc>
            </a:pPr>
            <a:r>
              <a:rPr lang="en-US" sz="1500" kern="0" spc="-45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Summary</a:t>
            </a:r>
            <a:endParaRPr lang="en-US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8101" y="2146399"/>
            <a:ext cx="6807200" cy="9465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3725"/>
              </a:lnSpc>
              <a:spcBef>
                <a:spcPts val="2140"/>
              </a:spcBef>
            </a:pPr>
            <a: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Conclusion: The Path Forward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76250" y="3300413"/>
            <a:ext cx="5523220" cy="1186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241300" indent="-241300" algn="l" fontAlgn="ctr">
              <a:lnSpc>
                <a:spcPts val="1875"/>
              </a:lnSpc>
              <a:spcBef>
                <a:spcPts val="1600"/>
              </a:spcBef>
              <a:buClr>
                <a:srgbClr val="48DC92"/>
              </a:buClr>
              <a:buSzPct val="120000"/>
              <a:buChar char="•"/>
            </a:pP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Black" pitchFamily="34" charset="-120"/>
              </a:rPr>
              <a:t>Proof of Concept:</a:t>
            </a: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 EEG-derived features show</a:t>
            </a:r>
            <a:b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</a:b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potential for modeling depression severity.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41300" indent="-241300" algn="l" fontAlgn="ctr">
              <a:lnSpc>
                <a:spcPts val="1875"/>
              </a:lnSpc>
              <a:spcBef>
                <a:spcPts val="1810"/>
              </a:spcBef>
              <a:buClr>
                <a:srgbClr val="48DC92"/>
              </a:buClr>
              <a:buSzPct val="120000"/>
              <a:buChar char="•"/>
            </a:pP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Black" pitchFamily="34" charset="-120"/>
              </a:rPr>
              <a:t>Vision:</a:t>
            </a: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 Foundational architecture for future clinical</a:t>
            </a:r>
            <a:b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</a:b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research integration.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</p:sp>
      <p:sp>
        <p:nvSpPr>
          <p:cNvPr id="8" name="Text 5"/>
          <p:cNvSpPr/>
          <p:nvPr/>
        </p:nvSpPr>
        <p:spPr>
          <a:xfrm>
            <a:off x="1133475" y="6378476"/>
            <a:ext cx="9925050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1875"/>
              </a:lnSpc>
            </a:pP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EEG-derived features offer a promising foundation for future clinical depression severity modeling.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3725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Future Research Directions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33375" y="1036141"/>
            <a:ext cx="115252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225"/>
              </a:lnSpc>
              <a:spcBef>
                <a:spcPts val="1135"/>
              </a:spcBef>
            </a:pPr>
            <a:r>
              <a:rPr lang="en-US" sz="1650" kern="0" spc="-66" dirty="0">
                <a:solidFill>
                  <a:srgbClr val="000000">
                    <a:alpha val="6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Strategic roadmap for advancing EEG research and model reliability.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76250" y="1733550"/>
            <a:ext cx="11239500" cy="695325"/>
          </a:xfrm>
          <a:prstGeom prst="rect">
            <a:avLst/>
          </a:prstGeom>
          <a:solidFill>
            <a:srgbClr val="48DC92"/>
          </a:solidFill>
          <a:ln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4444291" y="1963638"/>
            <a:ext cx="3303419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1875"/>
              </a:lnSpc>
            </a:pPr>
            <a:r>
              <a:rPr lang="en-US" sz="1650" kern="0" spc="-49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Research Development Pillars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76250" y="2524125"/>
            <a:ext cx="3683000" cy="3857625"/>
          </a:xfrm>
          <a:prstGeom prst="rect">
            <a:avLst/>
          </a:prstGeom>
          <a:solidFill>
            <a:srgbClr val="56C4EA"/>
          </a:solidFill>
          <a:ln>
            <a:miter lim="800000"/>
          </a:ln>
        </p:spPr>
      </p:sp>
      <p:sp>
        <p:nvSpPr>
          <p:cNvPr id="7" name="Text 5"/>
          <p:cNvSpPr/>
          <p:nvPr/>
        </p:nvSpPr>
        <p:spPr>
          <a:xfrm>
            <a:off x="779463" y="3444627"/>
            <a:ext cx="3076575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1875"/>
              </a:lnSpc>
              <a:spcBef>
                <a:spcPts val="1295"/>
              </a:spcBef>
            </a:pPr>
            <a:r>
              <a:rPr lang="en-US" sz="1650" kern="0" spc="-49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Scale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94913" y="3767286"/>
            <a:ext cx="3245674" cy="5137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025"/>
              </a:lnSpc>
              <a:spcBef>
                <a:spcPts val="655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Expand cohort size and diversity to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Geist Regular" pitchFamily="34" charset="-120"/>
              </a:rPr>
              <a:t>enhance generalizability.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Image 0" descr="-234aac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134" y="2887787"/>
            <a:ext cx="504825" cy="304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254500" y="2524125"/>
            <a:ext cx="3683000" cy="3857625"/>
          </a:xfrm>
          <a:prstGeom prst="rect">
            <a:avLst/>
          </a:prstGeom>
          <a:solidFill>
            <a:srgbClr val="75AFED"/>
          </a:solidFill>
          <a:ln>
            <a:miter lim="800000"/>
          </a:ln>
        </p:spPr>
      </p:sp>
      <p:sp>
        <p:nvSpPr>
          <p:cNvPr id="11" name="Text 8"/>
          <p:cNvSpPr/>
          <p:nvPr/>
        </p:nvSpPr>
        <p:spPr>
          <a:xfrm>
            <a:off x="4462463" y="3444627"/>
            <a:ext cx="3267075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1875"/>
              </a:lnSpc>
              <a:spcBef>
                <a:spcPts val="1295"/>
              </a:spcBef>
            </a:pPr>
            <a:r>
              <a:rPr lang="en-US" sz="1650" kern="0" spc="-49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Validation</a:t>
            </a:r>
          </a:p>
        </p:txBody>
      </p:sp>
      <p:sp>
        <p:nvSpPr>
          <p:cNvPr id="12" name="Text 9"/>
          <p:cNvSpPr/>
          <p:nvPr/>
        </p:nvSpPr>
        <p:spPr>
          <a:xfrm>
            <a:off x="4366305" y="3767286"/>
            <a:ext cx="3459391" cy="5137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025"/>
              </a:lnSpc>
              <a:spcBef>
                <a:spcPts val="655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Conduct multi-site external testing to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ensure robust performance.</a:t>
            </a:r>
          </a:p>
        </p:txBody>
      </p:sp>
      <p:pic>
        <p:nvPicPr>
          <p:cNvPr id="13" name="Image 1" descr="5277ed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448" y="2804071"/>
            <a:ext cx="466725" cy="46672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32750" y="2524125"/>
            <a:ext cx="3683000" cy="3857625"/>
          </a:xfrm>
          <a:prstGeom prst="rect">
            <a:avLst/>
          </a:prstGeom>
          <a:solidFill>
            <a:srgbClr val="939BF1"/>
          </a:solidFill>
          <a:ln>
            <a:miter lim="800000"/>
          </a:ln>
        </p:spPr>
      </p:sp>
      <p:sp>
        <p:nvSpPr>
          <p:cNvPr id="15" name="Text 11"/>
          <p:cNvSpPr/>
          <p:nvPr/>
        </p:nvSpPr>
        <p:spPr>
          <a:xfrm>
            <a:off x="8202613" y="3444627"/>
            <a:ext cx="3343275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1875"/>
              </a:lnSpc>
              <a:spcBef>
                <a:spcPts val="1295"/>
              </a:spcBef>
            </a:pPr>
            <a:r>
              <a:rPr lang="en-US" sz="1650" kern="0" spc="-49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Explainability</a:t>
            </a:r>
          </a:p>
        </p:txBody>
      </p:sp>
      <p:sp>
        <p:nvSpPr>
          <p:cNvPr id="16" name="Text 12"/>
          <p:cNvSpPr/>
          <p:nvPr/>
        </p:nvSpPr>
        <p:spPr>
          <a:xfrm>
            <a:off x="8104356" y="3767286"/>
            <a:ext cx="3539788" cy="5137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025"/>
              </a:lnSpc>
              <a:spcBef>
                <a:spcPts val="655"/>
              </a:spcBef>
            </a:pP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 interpretable EEG feature analysis</a:t>
            </a:r>
            <a:b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500" kern="0" spc="-60" dirty="0">
                <a:solidFill>
                  <a:srgbClr val="FFFFFF">
                    <a:alpha val="8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 improve trust and transparency.</a:t>
            </a:r>
          </a:p>
        </p:txBody>
      </p:sp>
      <p:pic>
        <p:nvPicPr>
          <p:cNvPr id="17" name="Image 2" descr="-66a82f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490" y="2876623"/>
            <a:ext cx="428625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3725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Geist Semi Bold" pitchFamily="34" charset="-120"/>
              </a:rPr>
              <a:t>References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76250" y="1581150"/>
            <a:ext cx="4476750" cy="4800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4" name="Image 0" descr="academic journal articles stacked, center view"/>
          <p:cNvPicPr>
            <a:picLocks noChangeAspect="1"/>
          </p:cNvPicPr>
          <p:nvPr/>
        </p:nvPicPr>
        <p:blipFill>
          <a:blip r:embed="rId3"/>
          <a:srcRect l="3373" r="3373"/>
          <a:stretch>
            <a:fillRect/>
          </a:stretch>
        </p:blipFill>
        <p:spPr>
          <a:xfrm>
            <a:off x="476250" y="1581150"/>
            <a:ext cx="4476750" cy="480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97501" y="3008561"/>
            <a:ext cx="6917266" cy="292233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fontAlgn="ctr">
              <a:buClr>
                <a:srgbClr val="48DC92"/>
              </a:buClr>
              <a:buSzPct val="120000"/>
              <a:buChar char="•"/>
            </a:pP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Rachamanee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, S., &amp;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Wongupparaj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, P. (2021). Resting-state EEG datasets of adolescents with mild, minimal, and moderate depression. BMC Research Notes, 14, 256.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hlinkClick r:id="rId4"/>
              </a:rPr>
              <a:t>https://doi.org/10.1186/s13104-021-05673-x</a:t>
            </a: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41300" indent="-241300" fontAlgn="ctr">
              <a:buClr>
                <a:srgbClr val="48DC92"/>
              </a:buClr>
              <a:buSzPct val="120000"/>
              <a:buChar char="•"/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41300" indent="-241300" fontAlgn="ctr">
              <a:buClr>
                <a:srgbClr val="48DC92"/>
              </a:buClr>
              <a:buSzPct val="120000"/>
              <a:buChar char="•"/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41300" indent="-241300" fontAlgn="ctr">
              <a:buClr>
                <a:srgbClr val="48DC92"/>
              </a:buClr>
              <a:buSzPct val="120000"/>
              <a:buChar char="•"/>
            </a:pPr>
            <a:r>
              <a:rPr lang="en-US" sz="1600" dirty="0"/>
              <a:t>OSF DOI: 10.17605/OSF.IO/4HQ3Y</a:t>
            </a: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41300" indent="-241300" fontAlgn="ctr">
              <a:buClr>
                <a:srgbClr val="48DC92"/>
              </a:buClr>
              <a:buSzPct val="120000"/>
              <a:buChar char="•"/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473141" y="3032622"/>
            <a:ext cx="3190875" cy="195158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 fontAlgn="ctr">
              <a:lnSpc>
                <a:spcPts val="2215"/>
              </a:lnSpc>
              <a:buClr>
                <a:srgbClr val="48DC92"/>
              </a:buClr>
              <a:buSzPct val="120000"/>
              <a:buChar char="•"/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1006</Words>
  <Application>Microsoft Office PowerPoint</Application>
  <PresentationFormat>Widescreen</PresentationFormat>
  <Paragraphs>194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Geist Regular</vt:lpstr>
      <vt:lpstr>Geist Semi Bold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Presentation</dc:subject>
  <dc:creator>Beautiful.ai</dc:creator>
  <cp:lastModifiedBy>laptop</cp:lastModifiedBy>
  <cp:revision>4</cp:revision>
  <dcterms:created xsi:type="dcterms:W3CDTF">2026-09-16T15:08:00Z</dcterms:created>
  <dcterms:modified xsi:type="dcterms:W3CDTF">2026-09-16T08:53:36Z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8A3821CF16314EEA9BCA7CCCFB1B8D65_13</vt:lpwstr>
  </property>
  <property fmtid="{D5CDD505-2E9C-101B-9397-08002B2CF9AE}" pid="3" name="KSOProductBuildVer">
    <vt:lpwstr>1033-12.1.0.28485</vt:lpwstr>
  </property>
</Properties>
</file>